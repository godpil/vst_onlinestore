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8" r:id="rId3"/>
    <p:sldId id="259" r:id="rId4"/>
    <p:sldId id="260" r:id="rId5"/>
    <p:sldId id="261" r:id="rId6"/>
    <p:sldId id="266" r:id="rId7"/>
    <p:sldId id="262" r:id="rId8"/>
    <p:sldId id="263" r:id="rId9"/>
    <p:sldId id="265" r:id="rId10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>
        <p:scale>
          <a:sx n="127" d="100"/>
          <a:sy n="127" d="100"/>
        </p:scale>
        <p:origin x="110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B5147A-F532-44CC-A7E8-280AEB289FC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C8A6EA8-CF49-4FD1-A8C8-A3F709D89699}">
      <dgm:prSet phldrT="[Text]"/>
      <dgm:spPr/>
      <dgm:t>
        <a:bodyPr/>
        <a:lstStyle/>
        <a:p>
          <a:r>
            <a:rPr lang="de-DE" dirty="0"/>
            <a:t>Auditing &amp; Errorhandling</a:t>
          </a:r>
        </a:p>
      </dgm:t>
    </dgm:pt>
    <dgm:pt modelId="{B1228F8A-2EC1-404E-B277-61B63365091F}" type="parTrans" cxnId="{EAE6B314-891E-4A92-B462-37654945988B}">
      <dgm:prSet/>
      <dgm:spPr/>
      <dgm:t>
        <a:bodyPr/>
        <a:lstStyle/>
        <a:p>
          <a:endParaRPr lang="de-DE"/>
        </a:p>
      </dgm:t>
    </dgm:pt>
    <dgm:pt modelId="{87F1164A-8CD9-4773-82C3-ED20E92FF79F}" type="sibTrans" cxnId="{EAE6B314-891E-4A92-B462-37654945988B}">
      <dgm:prSet/>
      <dgm:spPr/>
      <dgm:t>
        <a:bodyPr/>
        <a:lstStyle/>
        <a:p>
          <a:endParaRPr lang="de-DE"/>
        </a:p>
      </dgm:t>
    </dgm:pt>
    <dgm:pt modelId="{26732C87-520A-4B53-B4F7-5D3BB3EFBBD7}">
      <dgm:prSet phldrT="[Text]"/>
      <dgm:spPr/>
      <dgm:t>
        <a:bodyPr/>
        <a:lstStyle/>
        <a:p>
          <a:r>
            <a:rPr lang="de-DE" dirty="0"/>
            <a:t>Services</a:t>
          </a:r>
        </a:p>
      </dgm:t>
    </dgm:pt>
    <dgm:pt modelId="{3C1B5781-25FD-4555-BC2F-7C97B1E51A8F}" type="parTrans" cxnId="{93989BFE-2E55-49AE-AF63-D90DCBFAA247}">
      <dgm:prSet/>
      <dgm:spPr/>
      <dgm:t>
        <a:bodyPr/>
        <a:lstStyle/>
        <a:p>
          <a:endParaRPr lang="de-DE"/>
        </a:p>
      </dgm:t>
    </dgm:pt>
    <dgm:pt modelId="{9957032B-74A8-4681-84B1-7ABDF7599038}" type="sibTrans" cxnId="{93989BFE-2E55-49AE-AF63-D90DCBFAA247}">
      <dgm:prSet/>
      <dgm:spPr/>
      <dgm:t>
        <a:bodyPr/>
        <a:lstStyle/>
        <a:p>
          <a:endParaRPr lang="de-DE"/>
        </a:p>
      </dgm:t>
    </dgm:pt>
    <dgm:pt modelId="{0E2EF72C-78D9-480F-AB5F-6711FAB000DB}">
      <dgm:prSet phldrT="[Text]"/>
      <dgm:spPr/>
      <dgm:t>
        <a:bodyPr/>
        <a:lstStyle/>
        <a:p>
          <a:r>
            <a:rPr lang="de-DE" dirty="0"/>
            <a:t>Backend</a:t>
          </a:r>
        </a:p>
      </dgm:t>
    </dgm:pt>
    <dgm:pt modelId="{E7A10171-62E5-4657-A3B4-E287F9C652C1}" type="parTrans" cxnId="{5780A0E6-7907-4AE9-A77A-DA1A766FFD85}">
      <dgm:prSet/>
      <dgm:spPr/>
      <dgm:t>
        <a:bodyPr/>
        <a:lstStyle/>
        <a:p>
          <a:endParaRPr lang="de-DE"/>
        </a:p>
      </dgm:t>
    </dgm:pt>
    <dgm:pt modelId="{BF50FB03-0815-4DC4-BDA1-DA79C7059885}" type="sibTrans" cxnId="{5780A0E6-7907-4AE9-A77A-DA1A766FFD85}">
      <dgm:prSet/>
      <dgm:spPr/>
      <dgm:t>
        <a:bodyPr/>
        <a:lstStyle/>
        <a:p>
          <a:endParaRPr lang="de-DE"/>
        </a:p>
      </dgm:t>
    </dgm:pt>
    <dgm:pt modelId="{FF3503D3-651B-4C1B-B75E-C829081640F5}" type="pres">
      <dgm:prSet presAssocID="{53B5147A-F532-44CC-A7E8-280AEB289FC5}" presName="CompostProcess" presStyleCnt="0">
        <dgm:presLayoutVars>
          <dgm:dir/>
          <dgm:resizeHandles val="exact"/>
        </dgm:presLayoutVars>
      </dgm:prSet>
      <dgm:spPr/>
    </dgm:pt>
    <dgm:pt modelId="{2C135D76-F957-4FFD-B02E-DBA30B36D50F}" type="pres">
      <dgm:prSet presAssocID="{53B5147A-F532-44CC-A7E8-280AEB289FC5}" presName="arrow" presStyleLbl="bgShp" presStyleIdx="0" presStyleCnt="1" custFlipHor="1"/>
      <dgm:spPr/>
    </dgm:pt>
    <dgm:pt modelId="{8A6BC948-D133-4132-A39B-56FB623F5060}" type="pres">
      <dgm:prSet presAssocID="{53B5147A-F532-44CC-A7E8-280AEB289FC5}" presName="linearProcess" presStyleCnt="0"/>
      <dgm:spPr/>
    </dgm:pt>
    <dgm:pt modelId="{A2801B87-6D3E-4E7B-8ED3-8DD9B8BDC5F8}" type="pres">
      <dgm:prSet presAssocID="{DC8A6EA8-CF49-4FD1-A8C8-A3F709D89699}" presName="textNode" presStyleLbl="node1" presStyleIdx="0" presStyleCnt="3">
        <dgm:presLayoutVars>
          <dgm:bulletEnabled val="1"/>
        </dgm:presLayoutVars>
      </dgm:prSet>
      <dgm:spPr/>
    </dgm:pt>
    <dgm:pt modelId="{298BD396-8113-4AB1-A9AE-68C610D5AEFF}" type="pres">
      <dgm:prSet presAssocID="{87F1164A-8CD9-4773-82C3-ED20E92FF79F}" presName="sibTrans" presStyleCnt="0"/>
      <dgm:spPr/>
    </dgm:pt>
    <dgm:pt modelId="{14C7FA01-A786-4D7C-B31F-AF339D02D73C}" type="pres">
      <dgm:prSet presAssocID="{26732C87-520A-4B53-B4F7-5D3BB3EFBBD7}" presName="textNode" presStyleLbl="node1" presStyleIdx="1" presStyleCnt="3">
        <dgm:presLayoutVars>
          <dgm:bulletEnabled val="1"/>
        </dgm:presLayoutVars>
      </dgm:prSet>
      <dgm:spPr/>
    </dgm:pt>
    <dgm:pt modelId="{D70DA3FA-1D1C-45FA-93F4-ABA23DD894ED}" type="pres">
      <dgm:prSet presAssocID="{9957032B-74A8-4681-84B1-7ABDF7599038}" presName="sibTrans" presStyleCnt="0"/>
      <dgm:spPr/>
    </dgm:pt>
    <dgm:pt modelId="{AC594A96-E660-46C4-863A-A1ABC8CF989B}" type="pres">
      <dgm:prSet presAssocID="{0E2EF72C-78D9-480F-AB5F-6711FAB000D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A49AE005-FC0E-41B3-B023-345695A04757}" type="presOf" srcId="{26732C87-520A-4B53-B4F7-5D3BB3EFBBD7}" destId="{14C7FA01-A786-4D7C-B31F-AF339D02D73C}" srcOrd="0" destOrd="0" presId="urn:microsoft.com/office/officeart/2005/8/layout/hProcess9"/>
    <dgm:cxn modelId="{EAE6B314-891E-4A92-B462-37654945988B}" srcId="{53B5147A-F532-44CC-A7E8-280AEB289FC5}" destId="{DC8A6EA8-CF49-4FD1-A8C8-A3F709D89699}" srcOrd="0" destOrd="0" parTransId="{B1228F8A-2EC1-404E-B277-61B63365091F}" sibTransId="{87F1164A-8CD9-4773-82C3-ED20E92FF79F}"/>
    <dgm:cxn modelId="{98996E67-59A4-49A1-B84A-6AC011DCC6FF}" type="presOf" srcId="{53B5147A-F532-44CC-A7E8-280AEB289FC5}" destId="{FF3503D3-651B-4C1B-B75E-C829081640F5}" srcOrd="0" destOrd="0" presId="urn:microsoft.com/office/officeart/2005/8/layout/hProcess9"/>
    <dgm:cxn modelId="{6B4B28BB-1A46-4792-9815-E8CAA55BCE52}" type="presOf" srcId="{DC8A6EA8-CF49-4FD1-A8C8-A3F709D89699}" destId="{A2801B87-6D3E-4E7B-8ED3-8DD9B8BDC5F8}" srcOrd="0" destOrd="0" presId="urn:microsoft.com/office/officeart/2005/8/layout/hProcess9"/>
    <dgm:cxn modelId="{50F56EDD-6A00-447D-8E46-4767CA1585B4}" type="presOf" srcId="{0E2EF72C-78D9-480F-AB5F-6711FAB000DB}" destId="{AC594A96-E660-46C4-863A-A1ABC8CF989B}" srcOrd="0" destOrd="0" presId="urn:microsoft.com/office/officeart/2005/8/layout/hProcess9"/>
    <dgm:cxn modelId="{5780A0E6-7907-4AE9-A77A-DA1A766FFD85}" srcId="{53B5147A-F532-44CC-A7E8-280AEB289FC5}" destId="{0E2EF72C-78D9-480F-AB5F-6711FAB000DB}" srcOrd="2" destOrd="0" parTransId="{E7A10171-62E5-4657-A3B4-E287F9C652C1}" sibTransId="{BF50FB03-0815-4DC4-BDA1-DA79C7059885}"/>
    <dgm:cxn modelId="{93989BFE-2E55-49AE-AF63-D90DCBFAA247}" srcId="{53B5147A-F532-44CC-A7E8-280AEB289FC5}" destId="{26732C87-520A-4B53-B4F7-5D3BB3EFBBD7}" srcOrd="1" destOrd="0" parTransId="{3C1B5781-25FD-4555-BC2F-7C97B1E51A8F}" sibTransId="{9957032B-74A8-4681-84B1-7ABDF7599038}"/>
    <dgm:cxn modelId="{84DF2443-0672-47E2-A37D-6888F91B0084}" type="presParOf" srcId="{FF3503D3-651B-4C1B-B75E-C829081640F5}" destId="{2C135D76-F957-4FFD-B02E-DBA30B36D50F}" srcOrd="0" destOrd="0" presId="urn:microsoft.com/office/officeart/2005/8/layout/hProcess9"/>
    <dgm:cxn modelId="{CAF6B048-9DD7-4051-B00D-5734617BA650}" type="presParOf" srcId="{FF3503D3-651B-4C1B-B75E-C829081640F5}" destId="{8A6BC948-D133-4132-A39B-56FB623F5060}" srcOrd="1" destOrd="0" presId="urn:microsoft.com/office/officeart/2005/8/layout/hProcess9"/>
    <dgm:cxn modelId="{DE0E08B5-22AC-4D29-8754-8C0A5A0C2DB8}" type="presParOf" srcId="{8A6BC948-D133-4132-A39B-56FB623F5060}" destId="{A2801B87-6D3E-4E7B-8ED3-8DD9B8BDC5F8}" srcOrd="0" destOrd="0" presId="urn:microsoft.com/office/officeart/2005/8/layout/hProcess9"/>
    <dgm:cxn modelId="{45379642-0D2E-4A3C-82BE-8899D9EA7F78}" type="presParOf" srcId="{8A6BC948-D133-4132-A39B-56FB623F5060}" destId="{298BD396-8113-4AB1-A9AE-68C610D5AEFF}" srcOrd="1" destOrd="0" presId="urn:microsoft.com/office/officeart/2005/8/layout/hProcess9"/>
    <dgm:cxn modelId="{F8B4EF8B-4A99-4214-8036-E857BDEF2A18}" type="presParOf" srcId="{8A6BC948-D133-4132-A39B-56FB623F5060}" destId="{14C7FA01-A786-4D7C-B31F-AF339D02D73C}" srcOrd="2" destOrd="0" presId="urn:microsoft.com/office/officeart/2005/8/layout/hProcess9"/>
    <dgm:cxn modelId="{53B9C521-DFC4-45FC-844B-7CF81D6AA473}" type="presParOf" srcId="{8A6BC948-D133-4132-A39B-56FB623F5060}" destId="{D70DA3FA-1D1C-45FA-93F4-ABA23DD894ED}" srcOrd="3" destOrd="0" presId="urn:microsoft.com/office/officeart/2005/8/layout/hProcess9"/>
    <dgm:cxn modelId="{04363C1E-1540-4DC3-A457-EAB18D3A1C7F}" type="presParOf" srcId="{8A6BC948-D133-4132-A39B-56FB623F5060}" destId="{AC594A96-E660-46C4-863A-A1ABC8CF989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B5147A-F532-44CC-A7E8-280AEB289FC5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DC8A6EA8-CF49-4FD1-A8C8-A3F709D89699}">
      <dgm:prSet phldrT="[Text]"/>
      <dgm:spPr/>
      <dgm:t>
        <a:bodyPr/>
        <a:lstStyle/>
        <a:p>
          <a:r>
            <a:rPr lang="de-DE" dirty="0"/>
            <a:t>UI</a:t>
          </a:r>
          <a:br>
            <a:rPr lang="de-DE" dirty="0"/>
          </a:br>
          <a:r>
            <a:rPr lang="de-DE" dirty="0"/>
            <a:t>(Website)</a:t>
          </a:r>
        </a:p>
      </dgm:t>
    </dgm:pt>
    <dgm:pt modelId="{B1228F8A-2EC1-404E-B277-61B63365091F}" type="parTrans" cxnId="{EAE6B314-891E-4A92-B462-37654945988B}">
      <dgm:prSet/>
      <dgm:spPr/>
      <dgm:t>
        <a:bodyPr/>
        <a:lstStyle/>
        <a:p>
          <a:endParaRPr lang="de-DE"/>
        </a:p>
      </dgm:t>
    </dgm:pt>
    <dgm:pt modelId="{87F1164A-8CD9-4773-82C3-ED20E92FF79F}" type="sibTrans" cxnId="{EAE6B314-891E-4A92-B462-37654945988B}">
      <dgm:prSet/>
      <dgm:spPr/>
      <dgm:t>
        <a:bodyPr/>
        <a:lstStyle/>
        <a:p>
          <a:endParaRPr lang="de-DE"/>
        </a:p>
      </dgm:t>
    </dgm:pt>
    <dgm:pt modelId="{26732C87-520A-4B53-B4F7-5D3BB3EFBBD7}">
      <dgm:prSet phldrT="[Text]"/>
      <dgm:spPr/>
      <dgm:t>
        <a:bodyPr/>
        <a:lstStyle/>
        <a:p>
          <a:r>
            <a:rPr lang="de-DE" dirty="0"/>
            <a:t>RazorPages</a:t>
          </a:r>
        </a:p>
      </dgm:t>
    </dgm:pt>
    <dgm:pt modelId="{3C1B5781-25FD-4555-BC2F-7C97B1E51A8F}" type="parTrans" cxnId="{93989BFE-2E55-49AE-AF63-D90DCBFAA247}">
      <dgm:prSet/>
      <dgm:spPr/>
      <dgm:t>
        <a:bodyPr/>
        <a:lstStyle/>
        <a:p>
          <a:endParaRPr lang="de-DE"/>
        </a:p>
      </dgm:t>
    </dgm:pt>
    <dgm:pt modelId="{9957032B-74A8-4681-84B1-7ABDF7599038}" type="sibTrans" cxnId="{93989BFE-2E55-49AE-AF63-D90DCBFAA247}">
      <dgm:prSet/>
      <dgm:spPr/>
      <dgm:t>
        <a:bodyPr/>
        <a:lstStyle/>
        <a:p>
          <a:endParaRPr lang="de-DE"/>
        </a:p>
      </dgm:t>
    </dgm:pt>
    <dgm:pt modelId="{0E2EF72C-78D9-480F-AB5F-6711FAB000DB}">
      <dgm:prSet phldrT="[Text]"/>
      <dgm:spPr/>
      <dgm:t>
        <a:bodyPr/>
        <a:lstStyle/>
        <a:p>
          <a:r>
            <a:rPr lang="de-DE" dirty="0"/>
            <a:t>YARP BFF</a:t>
          </a:r>
        </a:p>
      </dgm:t>
    </dgm:pt>
    <dgm:pt modelId="{E7A10171-62E5-4657-A3B4-E287F9C652C1}" type="parTrans" cxnId="{5780A0E6-7907-4AE9-A77A-DA1A766FFD85}">
      <dgm:prSet/>
      <dgm:spPr/>
      <dgm:t>
        <a:bodyPr/>
        <a:lstStyle/>
        <a:p>
          <a:endParaRPr lang="de-DE"/>
        </a:p>
      </dgm:t>
    </dgm:pt>
    <dgm:pt modelId="{BF50FB03-0815-4DC4-BDA1-DA79C7059885}" type="sibTrans" cxnId="{5780A0E6-7907-4AE9-A77A-DA1A766FFD85}">
      <dgm:prSet/>
      <dgm:spPr/>
      <dgm:t>
        <a:bodyPr/>
        <a:lstStyle/>
        <a:p>
          <a:endParaRPr lang="de-DE"/>
        </a:p>
      </dgm:t>
    </dgm:pt>
    <dgm:pt modelId="{7F1E88B4-F313-4A29-894A-24D56C353B19}">
      <dgm:prSet phldrT="[Text]"/>
      <dgm:spPr/>
      <dgm:t>
        <a:bodyPr/>
        <a:lstStyle/>
        <a:p>
          <a:r>
            <a:rPr lang="de-DE" dirty="0"/>
            <a:t>Release</a:t>
          </a:r>
          <a:br>
            <a:rPr lang="de-DE" dirty="0"/>
          </a:br>
          <a:r>
            <a:rPr lang="de-DE" dirty="0"/>
            <a:t>(&lt; 06.09.)</a:t>
          </a:r>
        </a:p>
      </dgm:t>
    </dgm:pt>
    <dgm:pt modelId="{3AF612A7-2845-42C5-882B-D77FDCC34F83}" type="parTrans" cxnId="{3FF28DB2-DE2B-4B8A-B1CB-803ED7505196}">
      <dgm:prSet/>
      <dgm:spPr/>
      <dgm:t>
        <a:bodyPr/>
        <a:lstStyle/>
        <a:p>
          <a:endParaRPr lang="de-DE"/>
        </a:p>
      </dgm:t>
    </dgm:pt>
    <dgm:pt modelId="{7FADD09B-F766-486B-815F-D67B3A2B9F8E}" type="sibTrans" cxnId="{3FF28DB2-DE2B-4B8A-B1CB-803ED7505196}">
      <dgm:prSet/>
      <dgm:spPr/>
      <dgm:t>
        <a:bodyPr/>
        <a:lstStyle/>
        <a:p>
          <a:endParaRPr lang="de-DE"/>
        </a:p>
      </dgm:t>
    </dgm:pt>
    <dgm:pt modelId="{FF3503D3-651B-4C1B-B75E-C829081640F5}" type="pres">
      <dgm:prSet presAssocID="{53B5147A-F532-44CC-A7E8-280AEB289FC5}" presName="CompostProcess" presStyleCnt="0">
        <dgm:presLayoutVars>
          <dgm:dir/>
          <dgm:resizeHandles val="exact"/>
        </dgm:presLayoutVars>
      </dgm:prSet>
      <dgm:spPr/>
    </dgm:pt>
    <dgm:pt modelId="{2C135D76-F957-4FFD-B02E-DBA30B36D50F}" type="pres">
      <dgm:prSet presAssocID="{53B5147A-F532-44CC-A7E8-280AEB289FC5}" presName="arrow" presStyleLbl="bgShp" presStyleIdx="0" presStyleCnt="1" custScaleX="82527" custLinFactNeighborX="-13532"/>
      <dgm:spPr/>
    </dgm:pt>
    <dgm:pt modelId="{8A6BC948-D133-4132-A39B-56FB623F5060}" type="pres">
      <dgm:prSet presAssocID="{53B5147A-F532-44CC-A7E8-280AEB289FC5}" presName="linearProcess" presStyleCnt="0"/>
      <dgm:spPr/>
    </dgm:pt>
    <dgm:pt modelId="{A2801B87-6D3E-4E7B-8ED3-8DD9B8BDC5F8}" type="pres">
      <dgm:prSet presAssocID="{DC8A6EA8-CF49-4FD1-A8C8-A3F709D89699}" presName="textNode" presStyleLbl="node1" presStyleIdx="0" presStyleCnt="4">
        <dgm:presLayoutVars>
          <dgm:bulletEnabled val="1"/>
        </dgm:presLayoutVars>
      </dgm:prSet>
      <dgm:spPr/>
    </dgm:pt>
    <dgm:pt modelId="{298BD396-8113-4AB1-A9AE-68C610D5AEFF}" type="pres">
      <dgm:prSet presAssocID="{87F1164A-8CD9-4773-82C3-ED20E92FF79F}" presName="sibTrans" presStyleCnt="0"/>
      <dgm:spPr/>
    </dgm:pt>
    <dgm:pt modelId="{14C7FA01-A786-4D7C-B31F-AF339D02D73C}" type="pres">
      <dgm:prSet presAssocID="{26732C87-520A-4B53-B4F7-5D3BB3EFBBD7}" presName="textNode" presStyleLbl="node1" presStyleIdx="1" presStyleCnt="4">
        <dgm:presLayoutVars>
          <dgm:bulletEnabled val="1"/>
        </dgm:presLayoutVars>
      </dgm:prSet>
      <dgm:spPr/>
    </dgm:pt>
    <dgm:pt modelId="{D70DA3FA-1D1C-45FA-93F4-ABA23DD894ED}" type="pres">
      <dgm:prSet presAssocID="{9957032B-74A8-4681-84B1-7ABDF7599038}" presName="sibTrans" presStyleCnt="0"/>
      <dgm:spPr/>
    </dgm:pt>
    <dgm:pt modelId="{AC594A96-E660-46C4-863A-A1ABC8CF989B}" type="pres">
      <dgm:prSet presAssocID="{0E2EF72C-78D9-480F-AB5F-6711FAB000DB}" presName="textNode" presStyleLbl="node1" presStyleIdx="2" presStyleCnt="4">
        <dgm:presLayoutVars>
          <dgm:bulletEnabled val="1"/>
        </dgm:presLayoutVars>
      </dgm:prSet>
      <dgm:spPr/>
    </dgm:pt>
    <dgm:pt modelId="{59C7D64E-2234-4BAC-9084-84A527A3FF4E}" type="pres">
      <dgm:prSet presAssocID="{BF50FB03-0815-4DC4-BDA1-DA79C7059885}" presName="sibTrans" presStyleCnt="0"/>
      <dgm:spPr/>
    </dgm:pt>
    <dgm:pt modelId="{59C83841-D241-479D-843A-1D5B4656151A}" type="pres">
      <dgm:prSet presAssocID="{7F1E88B4-F313-4A29-894A-24D56C353B19}" presName="textNode" presStyleLbl="node1" presStyleIdx="3" presStyleCnt="4" custLinFactNeighborX="-62136" custLinFactNeighborY="0">
        <dgm:presLayoutVars>
          <dgm:bulletEnabled val="1"/>
        </dgm:presLayoutVars>
      </dgm:prSet>
      <dgm:spPr/>
    </dgm:pt>
  </dgm:ptLst>
  <dgm:cxnLst>
    <dgm:cxn modelId="{A49AE005-FC0E-41B3-B023-345695A04757}" type="presOf" srcId="{26732C87-520A-4B53-B4F7-5D3BB3EFBBD7}" destId="{14C7FA01-A786-4D7C-B31F-AF339D02D73C}" srcOrd="0" destOrd="0" presId="urn:microsoft.com/office/officeart/2005/8/layout/hProcess9"/>
    <dgm:cxn modelId="{EAE6B314-891E-4A92-B462-37654945988B}" srcId="{53B5147A-F532-44CC-A7E8-280AEB289FC5}" destId="{DC8A6EA8-CF49-4FD1-A8C8-A3F709D89699}" srcOrd="0" destOrd="0" parTransId="{B1228F8A-2EC1-404E-B277-61B63365091F}" sibTransId="{87F1164A-8CD9-4773-82C3-ED20E92FF79F}"/>
    <dgm:cxn modelId="{09BB2429-C3FF-4BCB-BB64-1EA5861BE3B4}" type="presOf" srcId="{7F1E88B4-F313-4A29-894A-24D56C353B19}" destId="{59C83841-D241-479D-843A-1D5B4656151A}" srcOrd="0" destOrd="0" presId="urn:microsoft.com/office/officeart/2005/8/layout/hProcess9"/>
    <dgm:cxn modelId="{98996E67-59A4-49A1-B84A-6AC011DCC6FF}" type="presOf" srcId="{53B5147A-F532-44CC-A7E8-280AEB289FC5}" destId="{FF3503D3-651B-4C1B-B75E-C829081640F5}" srcOrd="0" destOrd="0" presId="urn:microsoft.com/office/officeart/2005/8/layout/hProcess9"/>
    <dgm:cxn modelId="{3FF28DB2-DE2B-4B8A-B1CB-803ED7505196}" srcId="{53B5147A-F532-44CC-A7E8-280AEB289FC5}" destId="{7F1E88B4-F313-4A29-894A-24D56C353B19}" srcOrd="3" destOrd="0" parTransId="{3AF612A7-2845-42C5-882B-D77FDCC34F83}" sibTransId="{7FADD09B-F766-486B-815F-D67B3A2B9F8E}"/>
    <dgm:cxn modelId="{6B4B28BB-1A46-4792-9815-E8CAA55BCE52}" type="presOf" srcId="{DC8A6EA8-CF49-4FD1-A8C8-A3F709D89699}" destId="{A2801B87-6D3E-4E7B-8ED3-8DD9B8BDC5F8}" srcOrd="0" destOrd="0" presId="urn:microsoft.com/office/officeart/2005/8/layout/hProcess9"/>
    <dgm:cxn modelId="{50F56EDD-6A00-447D-8E46-4767CA1585B4}" type="presOf" srcId="{0E2EF72C-78D9-480F-AB5F-6711FAB000DB}" destId="{AC594A96-E660-46C4-863A-A1ABC8CF989B}" srcOrd="0" destOrd="0" presId="urn:microsoft.com/office/officeart/2005/8/layout/hProcess9"/>
    <dgm:cxn modelId="{5780A0E6-7907-4AE9-A77A-DA1A766FFD85}" srcId="{53B5147A-F532-44CC-A7E8-280AEB289FC5}" destId="{0E2EF72C-78D9-480F-AB5F-6711FAB000DB}" srcOrd="2" destOrd="0" parTransId="{E7A10171-62E5-4657-A3B4-E287F9C652C1}" sibTransId="{BF50FB03-0815-4DC4-BDA1-DA79C7059885}"/>
    <dgm:cxn modelId="{93989BFE-2E55-49AE-AF63-D90DCBFAA247}" srcId="{53B5147A-F532-44CC-A7E8-280AEB289FC5}" destId="{26732C87-520A-4B53-B4F7-5D3BB3EFBBD7}" srcOrd="1" destOrd="0" parTransId="{3C1B5781-25FD-4555-BC2F-7C97B1E51A8F}" sibTransId="{9957032B-74A8-4681-84B1-7ABDF7599038}"/>
    <dgm:cxn modelId="{84DF2443-0672-47E2-A37D-6888F91B0084}" type="presParOf" srcId="{FF3503D3-651B-4C1B-B75E-C829081640F5}" destId="{2C135D76-F957-4FFD-B02E-DBA30B36D50F}" srcOrd="0" destOrd="0" presId="urn:microsoft.com/office/officeart/2005/8/layout/hProcess9"/>
    <dgm:cxn modelId="{CAF6B048-9DD7-4051-B00D-5734617BA650}" type="presParOf" srcId="{FF3503D3-651B-4C1B-B75E-C829081640F5}" destId="{8A6BC948-D133-4132-A39B-56FB623F5060}" srcOrd="1" destOrd="0" presId="urn:microsoft.com/office/officeart/2005/8/layout/hProcess9"/>
    <dgm:cxn modelId="{DE0E08B5-22AC-4D29-8754-8C0A5A0C2DB8}" type="presParOf" srcId="{8A6BC948-D133-4132-A39B-56FB623F5060}" destId="{A2801B87-6D3E-4E7B-8ED3-8DD9B8BDC5F8}" srcOrd="0" destOrd="0" presId="urn:microsoft.com/office/officeart/2005/8/layout/hProcess9"/>
    <dgm:cxn modelId="{45379642-0D2E-4A3C-82BE-8899D9EA7F78}" type="presParOf" srcId="{8A6BC948-D133-4132-A39B-56FB623F5060}" destId="{298BD396-8113-4AB1-A9AE-68C610D5AEFF}" srcOrd="1" destOrd="0" presId="urn:microsoft.com/office/officeart/2005/8/layout/hProcess9"/>
    <dgm:cxn modelId="{F8B4EF8B-4A99-4214-8036-E857BDEF2A18}" type="presParOf" srcId="{8A6BC948-D133-4132-A39B-56FB623F5060}" destId="{14C7FA01-A786-4D7C-B31F-AF339D02D73C}" srcOrd="2" destOrd="0" presId="urn:microsoft.com/office/officeart/2005/8/layout/hProcess9"/>
    <dgm:cxn modelId="{53B9C521-DFC4-45FC-844B-7CF81D6AA473}" type="presParOf" srcId="{8A6BC948-D133-4132-A39B-56FB623F5060}" destId="{D70DA3FA-1D1C-45FA-93F4-ABA23DD894ED}" srcOrd="3" destOrd="0" presId="urn:microsoft.com/office/officeart/2005/8/layout/hProcess9"/>
    <dgm:cxn modelId="{04363C1E-1540-4DC3-A457-EAB18D3A1C7F}" type="presParOf" srcId="{8A6BC948-D133-4132-A39B-56FB623F5060}" destId="{AC594A96-E660-46C4-863A-A1ABC8CF989B}" srcOrd="4" destOrd="0" presId="urn:microsoft.com/office/officeart/2005/8/layout/hProcess9"/>
    <dgm:cxn modelId="{7C66F8C6-5FE9-448D-90C0-A2139505DF53}" type="presParOf" srcId="{8A6BC948-D133-4132-A39B-56FB623F5060}" destId="{59C7D64E-2234-4BAC-9084-84A527A3FF4E}" srcOrd="5" destOrd="0" presId="urn:microsoft.com/office/officeart/2005/8/layout/hProcess9"/>
    <dgm:cxn modelId="{6292A782-0621-4806-BB85-FE4772BFBBC0}" type="presParOf" srcId="{8A6BC948-D133-4132-A39B-56FB623F5060}" destId="{59C83841-D241-479D-843A-1D5B4656151A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35D76-F957-4FFD-B02E-DBA30B36D50F}">
      <dsp:nvSpPr>
        <dsp:cNvPr id="0" name=""/>
        <dsp:cNvSpPr/>
      </dsp:nvSpPr>
      <dsp:spPr>
        <a:xfrm flipH="1">
          <a:off x="368266" y="0"/>
          <a:ext cx="4173687" cy="201751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01B87-6D3E-4E7B-8ED3-8DD9B8BDC5F8}">
      <dsp:nvSpPr>
        <dsp:cNvPr id="0" name=""/>
        <dsp:cNvSpPr/>
      </dsp:nvSpPr>
      <dsp:spPr>
        <a:xfrm>
          <a:off x="5274" y="605255"/>
          <a:ext cx="1580477" cy="807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Auditing &amp; Errorhandling</a:t>
          </a:r>
        </a:p>
      </dsp:txBody>
      <dsp:txXfrm>
        <a:off x="44669" y="644650"/>
        <a:ext cx="1501687" cy="728216"/>
      </dsp:txXfrm>
    </dsp:sp>
    <dsp:sp modelId="{14C7FA01-A786-4D7C-B31F-AF339D02D73C}">
      <dsp:nvSpPr>
        <dsp:cNvPr id="0" name=""/>
        <dsp:cNvSpPr/>
      </dsp:nvSpPr>
      <dsp:spPr>
        <a:xfrm>
          <a:off x="1664871" y="605255"/>
          <a:ext cx="1580477" cy="807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Services</a:t>
          </a:r>
        </a:p>
      </dsp:txBody>
      <dsp:txXfrm>
        <a:off x="1704266" y="644650"/>
        <a:ext cx="1501687" cy="728216"/>
      </dsp:txXfrm>
    </dsp:sp>
    <dsp:sp modelId="{AC594A96-E660-46C4-863A-A1ABC8CF989B}">
      <dsp:nvSpPr>
        <dsp:cNvPr id="0" name=""/>
        <dsp:cNvSpPr/>
      </dsp:nvSpPr>
      <dsp:spPr>
        <a:xfrm>
          <a:off x="3324468" y="605255"/>
          <a:ext cx="1580477" cy="807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Backend</a:t>
          </a:r>
        </a:p>
      </dsp:txBody>
      <dsp:txXfrm>
        <a:off x="3363863" y="644650"/>
        <a:ext cx="1501687" cy="7282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35D76-F957-4FFD-B02E-DBA30B36D50F}">
      <dsp:nvSpPr>
        <dsp:cNvPr id="0" name=""/>
        <dsp:cNvSpPr/>
      </dsp:nvSpPr>
      <dsp:spPr>
        <a:xfrm>
          <a:off x="209517" y="0"/>
          <a:ext cx="4292629" cy="201751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01B87-6D3E-4E7B-8ED3-8DD9B8BDC5F8}">
      <dsp:nvSpPr>
        <dsp:cNvPr id="0" name=""/>
        <dsp:cNvSpPr/>
      </dsp:nvSpPr>
      <dsp:spPr>
        <a:xfrm>
          <a:off x="803" y="605255"/>
          <a:ext cx="1443280" cy="807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UI</a:t>
          </a:r>
          <a:br>
            <a:rPr lang="de-DE" sz="1900" kern="1200" dirty="0"/>
          </a:br>
          <a:r>
            <a:rPr lang="de-DE" sz="1900" kern="1200" dirty="0"/>
            <a:t>(Website)</a:t>
          </a:r>
        </a:p>
      </dsp:txBody>
      <dsp:txXfrm>
        <a:off x="40198" y="644650"/>
        <a:ext cx="1364490" cy="728216"/>
      </dsp:txXfrm>
    </dsp:sp>
    <dsp:sp modelId="{14C7FA01-A786-4D7C-B31F-AF339D02D73C}">
      <dsp:nvSpPr>
        <dsp:cNvPr id="0" name=""/>
        <dsp:cNvSpPr/>
      </dsp:nvSpPr>
      <dsp:spPr>
        <a:xfrm>
          <a:off x="1558972" y="605255"/>
          <a:ext cx="1443280" cy="807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RazorPages</a:t>
          </a:r>
        </a:p>
      </dsp:txBody>
      <dsp:txXfrm>
        <a:off x="1598367" y="644650"/>
        <a:ext cx="1364490" cy="728216"/>
      </dsp:txXfrm>
    </dsp:sp>
    <dsp:sp modelId="{AC594A96-E660-46C4-863A-A1ABC8CF989B}">
      <dsp:nvSpPr>
        <dsp:cNvPr id="0" name=""/>
        <dsp:cNvSpPr/>
      </dsp:nvSpPr>
      <dsp:spPr>
        <a:xfrm>
          <a:off x="3117141" y="605255"/>
          <a:ext cx="1443280" cy="807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YARP BFF</a:t>
          </a:r>
        </a:p>
      </dsp:txBody>
      <dsp:txXfrm>
        <a:off x="3156536" y="644650"/>
        <a:ext cx="1364490" cy="728216"/>
      </dsp:txXfrm>
    </dsp:sp>
    <dsp:sp modelId="{59C83841-D241-479D-843A-1D5B4656151A}">
      <dsp:nvSpPr>
        <dsp:cNvPr id="0" name=""/>
        <dsp:cNvSpPr/>
      </dsp:nvSpPr>
      <dsp:spPr>
        <a:xfrm>
          <a:off x="4603923" y="605255"/>
          <a:ext cx="1443280" cy="8070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Release</a:t>
          </a:r>
          <a:br>
            <a:rPr lang="de-DE" sz="1900" kern="1200" dirty="0"/>
          </a:br>
          <a:r>
            <a:rPr lang="de-DE" sz="1900" kern="1200" dirty="0"/>
            <a:t>(&lt; 06.09.)</a:t>
          </a:r>
        </a:p>
      </dsp:txBody>
      <dsp:txXfrm>
        <a:off x="4643318" y="644650"/>
        <a:ext cx="1364490" cy="728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64ED9EE-8F2A-4E06-87A2-36C0DD0993FD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A5ADE8-1FB8-43FD-A675-2B613EE00B6F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E9C95E-BEF0-4D2E-9127-B9099B238D2A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627DD0-092D-4AD9-AAE0-0513E170352E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6CBEDB-B1DE-4F8C-AD4A-10AD3F77E1A9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5AE019-BB99-4C3A-AA2C-A36C39CE4DCB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7FAFC6-AD0C-4B5B-B8B0-E729C6D4C810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7DEF3C-A2B0-4F78-836D-1A1B1DEE5467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71D44B-9C44-467E-B481-41466CDBD2A7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2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354EEBD-0E7F-42E6-BE86-4864547D749E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7274EF-79A2-4EAD-98EF-7E5BB5EA068D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771757-BB18-44C5-813E-435E78C98126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3FACD6-565C-4118-ACD0-32ACCA9AF940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DD379EC-906B-4CE5-98C2-3A156331FD9E}" type="datetime1">
              <a:rPr lang="de-DE" smtClean="0"/>
              <a:t>13.06.2026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9" name="Rechtec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htec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htec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Entwurfsmuster" TargetMode="External"/><Relationship Id="rId13" Type="http://schemas.openxmlformats.org/officeDocument/2006/relationships/hyperlink" Target="https://de.wikipedia.org/wiki/Saga_(Entwurfsmuster)" TargetMode="External"/><Relationship Id="rId3" Type="http://schemas.openxmlformats.org/officeDocument/2006/relationships/hyperlink" Target="https://de.wikipedia.org/wiki/GRPC" TargetMode="External"/><Relationship Id="rId7" Type="http://schemas.openxmlformats.org/officeDocument/2006/relationships/hyperlink" Target="https://de.wikipedia.org/wiki/Englische_Sprache" TargetMode="External"/><Relationship Id="rId12" Type="http://schemas.openxmlformats.org/officeDocument/2006/relationships/hyperlink" Target="https://de.wikipedia.org/wiki/Transaktion_(Informatik)" TargetMode="External"/><Relationship Id="rId17" Type="http://schemas.openxmlformats.org/officeDocument/2006/relationships/hyperlink" Target="https://de.wikipedia.org/wiki/Fassade_(Entwurfsmuster)" TargetMode="External"/><Relationship Id="rId2" Type="http://schemas.openxmlformats.org/officeDocument/2006/relationships/hyperlink" Target="https://grpc.io/?utm_source=chatgpt.com" TargetMode="External"/><Relationship Id="rId16" Type="http://schemas.openxmlformats.org/officeDocument/2006/relationships/hyperlink" Target="https://de.wikipedia.org/wiki/Subsystem_(Windows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bbitmq.com/" TargetMode="External"/><Relationship Id="rId11" Type="http://schemas.openxmlformats.org/officeDocument/2006/relationships/hyperlink" Target="https://de.wikipedia.org/wiki/Microservices" TargetMode="External"/><Relationship Id="rId5" Type="http://schemas.openxmlformats.org/officeDocument/2006/relationships/hyperlink" Target="https://dotnet.github.io/yarp/" TargetMode="External"/><Relationship Id="rId15" Type="http://schemas.openxmlformats.org/officeDocument/2006/relationships/hyperlink" Target="https://de.wikipedia.org/wiki/Schnittstelle" TargetMode="External"/><Relationship Id="rId10" Type="http://schemas.openxmlformats.org/officeDocument/2006/relationships/hyperlink" Target="https://de.wikipedia.org/wiki/Verteiltes_System" TargetMode="External"/><Relationship Id="rId4" Type="http://schemas.openxmlformats.org/officeDocument/2006/relationships/hyperlink" Target="https://microsoft.github.io/reverse-proxy/?utm_source=chatgpt.com" TargetMode="External"/><Relationship Id="rId9" Type="http://schemas.openxmlformats.org/officeDocument/2006/relationships/hyperlink" Target="https://de.wikipedia.org/wiki/Softwareentwicklung" TargetMode="External"/><Relationship Id="rId14" Type="http://schemas.openxmlformats.org/officeDocument/2006/relationships/hyperlink" Target="https://de.wikipedia.org/wiki/Strukturmuster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htec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Vertiefung Softwaretechnik FH-SWF‘26</a:t>
            </a:r>
            <a:br>
              <a:rPr lang="de" dirty="0"/>
            </a:br>
            <a:r>
              <a:rPr lang="de" cap="none" dirty="0"/>
              <a:t>Exemplarischer Softwareentwurf eines Onlinestores	</a:t>
            </a:r>
            <a:endParaRPr lang="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State-of-the-art Microservice Based Approach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Bild 5" descr="Nahaufnahme eines Logos&#10;&#10;Beschreibung wird automatisch generiert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7883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5381"/>
          </a:xfrm>
        </p:spPr>
        <p:txBody>
          <a:bodyPr rtlCol="0" anchor="t"/>
          <a:lstStyle/>
          <a:p>
            <a:pPr rtl="0"/>
            <a:r>
              <a:rPr lang="de" cap="none" dirty="0"/>
              <a:t>Überblick: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F92168A-CB5D-1A3C-C043-67D879A48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5426"/>
            <a:ext cx="11029615" cy="4669924"/>
          </a:xfrm>
        </p:spPr>
        <p:txBody>
          <a:bodyPr/>
          <a:lstStyle/>
          <a:p>
            <a:r>
              <a:rPr lang="de-DE" dirty="0"/>
              <a:t>Anforderungen</a:t>
            </a:r>
          </a:p>
          <a:p>
            <a:r>
              <a:rPr lang="de-DE" dirty="0"/>
              <a:t>Konzept</a:t>
            </a:r>
          </a:p>
          <a:p>
            <a:r>
              <a:rPr lang="de-DE"/>
              <a:t>Struktur-Grobentwurf</a:t>
            </a:r>
            <a:endParaRPr lang="de-DE" dirty="0"/>
          </a:p>
          <a:p>
            <a:r>
              <a:rPr lang="de-DE" dirty="0"/>
              <a:t>Prozessablauf (Happy-Path)</a:t>
            </a:r>
          </a:p>
          <a:p>
            <a:r>
              <a:rPr lang="de-DE" dirty="0"/>
              <a:t>Projektmanagement</a:t>
            </a:r>
          </a:p>
          <a:p>
            <a:r>
              <a:rPr lang="de-DE" dirty="0"/>
              <a:t>Komponentendetails 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5381"/>
          </a:xfrm>
        </p:spPr>
        <p:txBody>
          <a:bodyPr rtlCol="0" anchor="t"/>
          <a:lstStyle/>
          <a:p>
            <a:pPr rtl="0"/>
            <a:r>
              <a:rPr lang="de-DE" cap="none" dirty="0"/>
              <a:t>Anforderungen</a:t>
            </a:r>
            <a:r>
              <a:rPr lang="de" cap="none" dirty="0"/>
              <a:t>: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F92168A-CB5D-1A3C-C043-67D879A48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19200"/>
            <a:ext cx="11029615" cy="5361354"/>
          </a:xfrm>
        </p:spPr>
        <p:txBody>
          <a:bodyPr anchor="t">
            <a:normAutofit lnSpcReduction="10000"/>
          </a:bodyPr>
          <a:lstStyle/>
          <a:p>
            <a:r>
              <a:rPr lang="de-DE" dirty="0"/>
              <a:t>Es soll ein ‚State-of-the-Art‘ Online-Store mit beliebigem Thema erstellt werden, dabei werden zahlreiche aktuelle Anforderungen an den Entwurf gestellt:</a:t>
            </a:r>
          </a:p>
          <a:p>
            <a:r>
              <a:rPr lang="de-DE" dirty="0"/>
              <a:t>Nicht-funktionale Anforderungen</a:t>
            </a:r>
          </a:p>
          <a:p>
            <a:pPr lvl="1"/>
            <a:r>
              <a:rPr lang="de-DE" dirty="0"/>
              <a:t>Wartbarkeit</a:t>
            </a:r>
          </a:p>
          <a:p>
            <a:pPr lvl="1"/>
            <a:r>
              <a:rPr lang="de-DE" dirty="0"/>
              <a:t>Erweiterbarkeit</a:t>
            </a:r>
          </a:p>
          <a:p>
            <a:pPr lvl="1"/>
            <a:r>
              <a:rPr lang="de-DE" dirty="0"/>
              <a:t>Nachvollziehbarkeit</a:t>
            </a:r>
          </a:p>
          <a:p>
            <a:pPr lvl="1"/>
            <a:r>
              <a:rPr lang="de-DE" dirty="0"/>
              <a:t>Resilienz</a:t>
            </a:r>
          </a:p>
          <a:p>
            <a:r>
              <a:rPr lang="de-DE" dirty="0"/>
              <a:t>Funktionale Anforderungen (Pflicht)</a:t>
            </a:r>
          </a:p>
          <a:p>
            <a:pPr lvl="1"/>
            <a:r>
              <a:rPr lang="de-DE" dirty="0"/>
              <a:t>Microservice-Architektur</a:t>
            </a:r>
          </a:p>
          <a:p>
            <a:pPr lvl="1"/>
            <a:r>
              <a:rPr lang="de-DE" dirty="0"/>
              <a:t>Payment-Fassade</a:t>
            </a:r>
          </a:p>
          <a:p>
            <a:pPr lvl="1"/>
            <a:r>
              <a:rPr lang="de-DE" dirty="0"/>
              <a:t>Fehlerbehandlung (SAGA-Kompensation)</a:t>
            </a:r>
          </a:p>
          <a:p>
            <a:pPr lvl="1"/>
            <a:r>
              <a:rPr lang="de-DE" dirty="0"/>
              <a:t>Audit- und Snapshot-System</a:t>
            </a:r>
          </a:p>
          <a:p>
            <a:pPr lvl="1"/>
            <a:r>
              <a:rPr lang="de-DE" dirty="0"/>
              <a:t>Strukturiertes Logging (JSON)</a:t>
            </a:r>
          </a:p>
          <a:p>
            <a:pPr lvl="1"/>
            <a:r>
              <a:rPr lang="de-DE" dirty="0"/>
              <a:t>Synchrone REST/HTTP Calls von/an die UI (Webpage)</a:t>
            </a:r>
          </a:p>
          <a:p>
            <a:pPr lvl="1"/>
            <a:r>
              <a:rPr lang="de-DE" dirty="0"/>
              <a:t>Asynchrone Auditing Calls (Services &gt;&gt; AuditService)</a:t>
            </a:r>
          </a:p>
          <a:p>
            <a:pPr lvl="1"/>
            <a:r>
              <a:rPr lang="de-DE" dirty="0"/>
              <a:t>REST API-Designanforderungen sind zu beachten 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766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5381"/>
          </a:xfrm>
        </p:spPr>
        <p:txBody>
          <a:bodyPr rtlCol="0" anchor="t"/>
          <a:lstStyle/>
          <a:p>
            <a:pPr rtl="0"/>
            <a:r>
              <a:rPr lang="de-DE" cap="none" dirty="0"/>
              <a:t>Konzept</a:t>
            </a:r>
            <a:r>
              <a:rPr lang="de" cap="none" dirty="0"/>
              <a:t>: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F92168A-CB5D-1A3C-C043-67D879A48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19200"/>
            <a:ext cx="11029615" cy="5361354"/>
          </a:xfrm>
        </p:spPr>
        <p:txBody>
          <a:bodyPr anchor="t">
            <a:normAutofit/>
          </a:bodyPr>
          <a:lstStyle/>
          <a:p>
            <a:r>
              <a:rPr lang="de-DE" dirty="0"/>
              <a:t>Das Thema des Online-Stores ist Holz  </a:t>
            </a:r>
          </a:p>
          <a:p>
            <a:r>
              <a:rPr lang="de-DE" dirty="0"/>
              <a:t>Planung für UI: </a:t>
            </a:r>
          </a:p>
          <a:p>
            <a:pPr lvl="1"/>
            <a:r>
              <a:rPr lang="de-DE" dirty="0"/>
              <a:t>Website und UI Logik – ASP.NET CORE RAZOR-PAGES	{.cshtml, .cshtml.cs, .cs}</a:t>
            </a:r>
          </a:p>
          <a:p>
            <a:r>
              <a:rPr lang="de-DE" dirty="0"/>
              <a:t>API Gateway (BFF) (UI </a:t>
            </a:r>
            <a:r>
              <a:rPr lang="de-DE" dirty="0">
                <a:sym typeface="Wingdings" panose="05000000000000000000" pitchFamily="2" charset="2"/>
              </a:rPr>
              <a:t> BFF  gRPC-Main-Service)</a:t>
            </a:r>
            <a:endParaRPr lang="de-DE" dirty="0"/>
          </a:p>
          <a:p>
            <a:pPr lvl="1"/>
            <a:r>
              <a:rPr lang="de-DE" dirty="0"/>
              <a:t>YARP-Framework – Routing, Load-Balancing 	{.cs, .json}</a:t>
            </a:r>
          </a:p>
          <a:p>
            <a:r>
              <a:rPr lang="de-DE" dirty="0"/>
              <a:t>Services</a:t>
            </a:r>
          </a:p>
          <a:p>
            <a:pPr lvl="1"/>
            <a:r>
              <a:rPr lang="de-DE" dirty="0"/>
              <a:t>Shop-, Billing-, Payment-, Invoice-, Warehouse und Audit-Service per gRPC .NET10</a:t>
            </a:r>
            <a:br>
              <a:rPr lang="de-DE" dirty="0"/>
            </a:br>
            <a:r>
              <a:rPr lang="de-DE" dirty="0"/>
              <a:t>{.proto, .cs}</a:t>
            </a:r>
          </a:p>
          <a:p>
            <a:pPr lvl="1"/>
            <a:r>
              <a:rPr lang="de-DE" dirty="0"/>
              <a:t>Nur der Shop-Service (Mainservice) soll nach außen exponiert sein</a:t>
            </a:r>
            <a:br>
              <a:rPr lang="de-DE" dirty="0"/>
            </a:br>
            <a:r>
              <a:rPr lang="de-DE" dirty="0"/>
              <a:t>(Mögliches Problem im Zusammenspiel mit YARP ggf. müssen alle Services zumindest für diese Komponente sichtbar sein)</a:t>
            </a:r>
          </a:p>
          <a:p>
            <a:r>
              <a:rPr lang="de-DE" dirty="0"/>
              <a:t>Message-Broker/Event-Bus:</a:t>
            </a:r>
          </a:p>
          <a:p>
            <a:pPr lvl="1"/>
            <a:r>
              <a:rPr lang="de-DE" dirty="0"/>
              <a:t>RabbitMQ – async Eventlogging &amp; Auditing	{RabbitMQ Server, .cs}</a:t>
            </a:r>
          </a:p>
          <a:p>
            <a:r>
              <a:rPr lang="de-DE" dirty="0"/>
              <a:t>Service-Backends</a:t>
            </a:r>
          </a:p>
          <a:p>
            <a:pPr lvl="1"/>
            <a:r>
              <a:rPr lang="de-DE" dirty="0"/>
              <a:t>C# .NET10 Models</a:t>
            </a:r>
          </a:p>
          <a:p>
            <a:pPr lvl="1"/>
            <a:r>
              <a:rPr lang="de-DE" dirty="0"/>
              <a:t>Ggf. mit EF für DB Anbindung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pic>
        <p:nvPicPr>
          <p:cNvPr id="4" name="Grafik 3" descr="Waldszenerie mit einfarbiger Füllung">
            <a:extLst>
              <a:ext uri="{FF2B5EF4-FFF2-40B4-BE49-F238E27FC236}">
                <a16:creationId xmlns:a16="http://schemas.microsoft.com/office/drawing/2014/main" id="{7F4D0DFB-C8CE-5563-1760-2D0185F70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8431" y="7021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96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5381"/>
          </a:xfrm>
        </p:spPr>
        <p:txBody>
          <a:bodyPr rtlCol="0" anchor="t"/>
          <a:lstStyle/>
          <a:p>
            <a:pPr rtl="0"/>
            <a:r>
              <a:rPr lang="de-DE" cap="none" dirty="0"/>
              <a:t>Struktur-Grobentwurf</a:t>
            </a:r>
            <a:r>
              <a:rPr lang="de" cap="none" dirty="0"/>
              <a:t>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35A41E9-F9FF-1B44-E3E7-62FC2E9C9DC3}"/>
              </a:ext>
            </a:extLst>
          </p:cNvPr>
          <p:cNvSpPr txBox="1"/>
          <p:nvPr/>
        </p:nvSpPr>
        <p:spPr>
          <a:xfrm>
            <a:off x="7508033" y="1184000"/>
            <a:ext cx="449113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Schichtenarchitektur (komponentenbasiert, hohe Bindung minimale Kopplung)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Event-basiertes Auditing</a:t>
            </a:r>
            <a:br>
              <a:rPr lang="de-DE" dirty="0"/>
            </a:br>
            <a:r>
              <a:rPr lang="de-DE" dirty="0"/>
              <a:t>(per RabbitMQ Server &amp; Clients)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Payment-Fassade in Billing-Service</a:t>
            </a:r>
            <a:br>
              <a:rPr lang="de-DE" dirty="0"/>
            </a:br>
            <a:r>
              <a:rPr lang="de-DE" dirty="0"/>
              <a:t>(hält mind. 2 Paymentanbieter)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Shop-Service als DER zentrale Service</a:t>
            </a:r>
            <a:br>
              <a:rPr lang="de-DE" dirty="0"/>
            </a:br>
            <a:r>
              <a:rPr lang="de-DE" dirty="0"/>
              <a:t>(managed by YARP-Framework)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Hohe Response- und Ausführungsgeschwindigkeit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Fehlerbehandlung nach SAGA-Pattern</a:t>
            </a:r>
            <a:br>
              <a:rPr lang="de-DE" dirty="0"/>
            </a:br>
            <a:r>
              <a:rPr lang="de-DE" dirty="0"/>
              <a:t>(Jeder Fehlerfall hat eine eigene Kompensationsoperation)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2627E9D-DB64-E432-0B4D-9C158B537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1" y="1184000"/>
            <a:ext cx="6770103" cy="5582508"/>
          </a:xfrm>
        </p:spPr>
      </p:pic>
    </p:spTree>
    <p:extLst>
      <p:ext uri="{BB962C8B-B14F-4D97-AF65-F5344CB8AC3E}">
        <p14:creationId xmlns:p14="http://schemas.microsoft.com/office/powerpoint/2010/main" val="213054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5381"/>
          </a:xfrm>
        </p:spPr>
        <p:txBody>
          <a:bodyPr rtlCol="0" anchor="t"/>
          <a:lstStyle/>
          <a:p>
            <a:pPr rtl="0"/>
            <a:r>
              <a:rPr lang="de-DE" cap="none" dirty="0"/>
              <a:t>Prozessablauf (Happy-Path)</a:t>
            </a:r>
            <a:r>
              <a:rPr lang="de" cap="none" dirty="0"/>
              <a:t>: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D9C9B30F-7832-718E-EC5E-A8E371C74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199730"/>
            <a:ext cx="9513303" cy="5563422"/>
          </a:xfrm>
        </p:spPr>
      </p:pic>
    </p:spTree>
    <p:extLst>
      <p:ext uri="{BB962C8B-B14F-4D97-AF65-F5344CB8AC3E}">
        <p14:creationId xmlns:p14="http://schemas.microsoft.com/office/powerpoint/2010/main" val="205332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6A63AFFB-8D15-745E-965E-C17FBC3CB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922978"/>
              </p:ext>
            </p:extLst>
          </p:nvPr>
        </p:nvGraphicFramePr>
        <p:xfrm>
          <a:off x="6700586" y="4180974"/>
          <a:ext cx="4910221" cy="2017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809C6595-2384-438C-0C22-8FB788A712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249889"/>
              </p:ext>
            </p:extLst>
          </p:nvPr>
        </p:nvGraphicFramePr>
        <p:xfrm>
          <a:off x="581191" y="4180973"/>
          <a:ext cx="6119394" cy="2017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5381"/>
          </a:xfrm>
        </p:spPr>
        <p:txBody>
          <a:bodyPr rtlCol="0" anchor="t"/>
          <a:lstStyle/>
          <a:p>
            <a:pPr rtl="0"/>
            <a:r>
              <a:rPr lang="de-DE" cap="none" dirty="0"/>
              <a:t>Projekt-Management</a:t>
            </a:r>
            <a:r>
              <a:rPr lang="de" cap="none" dirty="0"/>
              <a:t>: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61CD99-7BA5-DD21-3101-001B9427E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75348"/>
            <a:ext cx="11029615" cy="4170613"/>
          </a:xfrm>
        </p:spPr>
        <p:txBody>
          <a:bodyPr/>
          <a:lstStyle/>
          <a:p>
            <a:r>
              <a:rPr lang="de-DE" dirty="0"/>
              <a:t>Ansatz: Sowohl Top/Down als auch Bottom/Up, Schnittpunkt zentraler ‚Shop-Service‘</a:t>
            </a:r>
          </a:p>
          <a:p>
            <a:r>
              <a:rPr lang="de-DE" dirty="0">
                <a:sym typeface="Wingdings" panose="05000000000000000000" pitchFamily="2" charset="2"/>
              </a:rPr>
              <a:t>Umsetzungszeitraum:</a:t>
            </a:r>
          </a:p>
          <a:p>
            <a:pPr lvl="1"/>
            <a:r>
              <a:rPr lang="de-DE" dirty="0"/>
              <a:t>Juni/Juli:			UI / Website / Backend</a:t>
            </a:r>
          </a:p>
          <a:p>
            <a:pPr lvl="1"/>
            <a:r>
              <a:rPr lang="de-DE" dirty="0"/>
              <a:t>Juli / August:		RazorPages / Services</a:t>
            </a:r>
          </a:p>
          <a:p>
            <a:pPr lvl="1"/>
            <a:r>
              <a:rPr lang="de-DE" dirty="0"/>
              <a:t>August/September	YARP BFF / Auditing &amp; Errorhandling / „Hochzeit“ (BFF &lt;-&gt; ShopService &lt;-&gt; Services)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474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5381"/>
          </a:xfrm>
        </p:spPr>
        <p:txBody>
          <a:bodyPr rtlCol="0" anchor="t"/>
          <a:lstStyle/>
          <a:p>
            <a:pPr rtl="0"/>
            <a:r>
              <a:rPr lang="de-DE" cap="none" dirty="0"/>
              <a:t>Komponentendetails</a:t>
            </a:r>
            <a:r>
              <a:rPr lang="de" cap="none" dirty="0"/>
              <a:t>: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61CD99-7BA5-DD21-3101-001B9427E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1641"/>
            <a:ext cx="11029615" cy="4970638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gRPC</a:t>
            </a:r>
          </a:p>
          <a:p>
            <a:pPr lvl="1"/>
            <a:r>
              <a:rPr lang="de-DE" b="1" dirty="0"/>
              <a:t>gRPC</a:t>
            </a:r>
            <a:r>
              <a:rPr lang="de-DE" dirty="0"/>
              <a:t> ist ein modernes Kommunikationsprotokoll für Anwendungen und Microservices. Es wurde von </a:t>
            </a:r>
            <a:r>
              <a:rPr lang="de-DE" dirty="0">
                <a:hlinkClick r:id="rId2"/>
              </a:rPr>
              <a:t>Google gRPC Project</a:t>
            </a:r>
            <a:r>
              <a:rPr lang="de-DE" dirty="0"/>
              <a:t> entwickelt und wird häufig verwendet, wenn verschiedene Backend-Dienste schnell und typsicher miteinander kommunizieren sollen.	</a:t>
            </a:r>
            <a:br>
              <a:rPr lang="de-DE" dirty="0"/>
            </a:br>
            <a:r>
              <a:rPr lang="de-DE" dirty="0">
                <a:hlinkClick r:id="rId3"/>
              </a:rPr>
              <a:t>https://de.wikipedia.org/wiki/GRPC</a:t>
            </a:r>
            <a:r>
              <a:rPr lang="de-DE" dirty="0"/>
              <a:t> </a:t>
            </a:r>
          </a:p>
          <a:p>
            <a:r>
              <a:rPr lang="de-DE" b="1" dirty="0"/>
              <a:t>YARP</a:t>
            </a:r>
          </a:p>
          <a:p>
            <a:pPr lvl="1"/>
            <a:r>
              <a:rPr lang="de-DE" b="1" dirty="0"/>
              <a:t>S</a:t>
            </a:r>
            <a:r>
              <a:rPr lang="de-DE" dirty="0"/>
              <a:t>teht für </a:t>
            </a:r>
            <a:r>
              <a:rPr lang="de-DE" b="1" dirty="0"/>
              <a:t>Yet Another Reverse Proxy</a:t>
            </a:r>
            <a:r>
              <a:rPr lang="de-DE" dirty="0"/>
              <a:t> und ist ein Reverse-Proxy-Framework von </a:t>
            </a:r>
            <a:r>
              <a:rPr lang="de-DE" dirty="0">
                <a:hlinkClick r:id="rId4"/>
              </a:rPr>
              <a:t>Microsoft YARP Project</a:t>
            </a:r>
            <a:r>
              <a:rPr lang="de-DE" dirty="0"/>
              <a:t> für ASP.NET Core.</a:t>
            </a:r>
            <a:br>
              <a:rPr lang="de-DE" dirty="0"/>
            </a:br>
            <a:r>
              <a:rPr lang="de-DE" dirty="0"/>
              <a:t>Mit YARP können Anfragen an verschiedene Backend-Services weitergeleitet werden, ohne selbst viel Routing-Code schreiben zu müssen. </a:t>
            </a:r>
            <a:r>
              <a:rPr lang="de-DE" dirty="0">
                <a:hlinkClick r:id="rId5"/>
              </a:rPr>
              <a:t>https://dotnet.github.io/yarp/</a:t>
            </a:r>
            <a:r>
              <a:rPr lang="de-DE" dirty="0"/>
              <a:t> </a:t>
            </a:r>
          </a:p>
          <a:p>
            <a:r>
              <a:rPr lang="de-DE" dirty="0"/>
              <a:t>RabbitMQ</a:t>
            </a:r>
          </a:p>
          <a:p>
            <a:pPr lvl="1"/>
            <a:r>
              <a:rPr lang="de-DE" b="1" u="none" strike="noStrike" dirty="0">
                <a:effectLst/>
                <a:latin typeface="Google Sans"/>
              </a:rPr>
              <a:t>RabbitMQ</a:t>
            </a:r>
            <a:r>
              <a:rPr lang="de-DE" b="0" u="none" strike="noStrike" dirty="0">
                <a:effectLst/>
                <a:latin typeface="Google Sans"/>
              </a:rPr>
              <a:t> ist eine weit verbreitete, quelloffene Software für den Nachrichtenaustausch (ein sogenannter </a:t>
            </a:r>
            <a:r>
              <a:rPr lang="de-DE" b="0" i="1" u="none" strike="noStrike" dirty="0">
                <a:effectLst/>
                <a:latin typeface="Google Sans"/>
              </a:rPr>
              <a:t>Message Broker</a:t>
            </a:r>
            <a:r>
              <a:rPr lang="de-DE" b="0" u="none" strike="noStrike" dirty="0">
                <a:effectLst/>
                <a:latin typeface="Google Sans"/>
              </a:rPr>
              <a:t>). Die Software fungiert als eine Art intelligentes Postamt für Computersysteme: Sie nimmt Nachrichten (Daten, Aufgaben oder Befehle) von einer Anwendung entgegen, speichert sie sicher und leitet sie an andere Anwendungen weiter. </a:t>
            </a:r>
            <a:r>
              <a:rPr lang="de-DE" b="0" u="none" strike="noStrike" dirty="0">
                <a:effectLst/>
                <a:latin typeface="Google Sans"/>
                <a:hlinkClick r:id="rId6"/>
              </a:rPr>
              <a:t>https://www.rabbitmq.com/</a:t>
            </a:r>
            <a:r>
              <a:rPr lang="de-DE" b="0" u="none" strike="noStrike" dirty="0">
                <a:effectLst/>
                <a:latin typeface="Google Sans"/>
              </a:rPr>
              <a:t> </a:t>
            </a:r>
            <a:endParaRPr lang="de-DE" dirty="0"/>
          </a:p>
          <a:p>
            <a:r>
              <a:rPr lang="de-DE" dirty="0"/>
              <a:t>SAGA-Pattern</a:t>
            </a:r>
          </a:p>
          <a:p>
            <a:pPr lvl="1"/>
            <a:r>
              <a:rPr lang="de-DE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Saga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Englische Sprache"/>
              </a:rPr>
              <a:t>englisch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de-DE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saga pattern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ist ein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Entwurfsmuster"/>
              </a:rPr>
              <a:t>Entwurfsmuster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aus dem Bereich der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Softwareentwicklung"/>
              </a:rPr>
              <a:t>Softwareentwicklung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zur Verwaltung von Daten in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Verteiltes System"/>
              </a:rPr>
              <a:t>verteilten Systemen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häufig genutzt bei der Implementierung von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1" tooltip="Microservices"/>
              </a:rPr>
              <a:t>Microservices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Saga kann in einem verteilten System die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2" tooltip="Transaktion (Informatik)"/>
              </a:rPr>
              <a:t>Transaktion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ersetzen. </a:t>
            </a:r>
            <a:r>
              <a:rPr lang="de-DE" dirty="0">
                <a:hlinkClick r:id="rId13"/>
              </a:rPr>
              <a:t>https://de.wikipedia.org/wiki/Saga_(Entwurfsmuster)</a:t>
            </a:r>
            <a:r>
              <a:rPr lang="de-DE" dirty="0"/>
              <a:t> </a:t>
            </a:r>
          </a:p>
          <a:p>
            <a:r>
              <a:rPr lang="de-DE" dirty="0"/>
              <a:t>Facade-Pattern</a:t>
            </a:r>
          </a:p>
          <a:p>
            <a:pPr lvl="1"/>
            <a:r>
              <a:rPr lang="de-DE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Fassade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Englische Sprache"/>
              </a:rPr>
              <a:t>englisch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de-DE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facade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auch </a:t>
            </a:r>
            <a:r>
              <a:rPr lang="de-DE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façade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geschrieben) ist ein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Entwurfsmuster"/>
              </a:rPr>
              <a:t>Entwurfsmuster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aus dem Bereich der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Softwareentwicklung"/>
              </a:rPr>
              <a:t>Softwareentwicklung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das zur Kategorie der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4" tooltip="Strukturmuster"/>
              </a:rPr>
              <a:t>Strukturmuster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(engl. </a:t>
            </a:r>
            <a:r>
              <a:rPr lang="de-DE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structural design patterns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gehört. Es bietet eine einheitliche und meist vereinfachte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5" tooltip="Schnittstelle"/>
              </a:rPr>
              <a:t>Schnittstelle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zu einer Menge von Schnittstellen eines </a:t>
            </a:r>
            <a:r>
              <a:rPr lang="de-DE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6" tooltip="Subsystem (Windows)"/>
              </a:rPr>
              <a:t>Subsystems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17"/>
              </a:rPr>
              <a:t>https://de.wikipedia.org/wiki/Fassade_(Entwurfsmuster)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0047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htec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93478"/>
          </a:xfrm>
        </p:spPr>
        <p:txBody>
          <a:bodyPr rtlCol="0" anchor="t">
            <a:normAutofit fontScale="90000"/>
          </a:bodyPr>
          <a:lstStyle/>
          <a:p>
            <a:pPr rtl="0"/>
            <a:r>
              <a:rPr lang="de" cap="none" dirty="0"/>
              <a:t>Vielen Dank für Ihre Zeit</a:t>
            </a:r>
            <a:br>
              <a:rPr lang="de" cap="none" dirty="0"/>
            </a:br>
            <a:br>
              <a:rPr lang="de" dirty="0"/>
            </a:br>
            <a:r>
              <a:rPr lang="de" dirty="0"/>
              <a:t>Kritik / Fragen / Anregungen	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2616200"/>
            <a:ext cx="10993546" cy="3633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de" cap="none" dirty="0"/>
              <a:t>Philipp Förderer (philipp.foerderer@fh-swf.de)</a:t>
            </a:r>
          </a:p>
          <a:p>
            <a:pPr rtl="0"/>
            <a:endParaRPr lang="de" cap="none" dirty="0"/>
          </a:p>
          <a:p>
            <a:pPr rtl="0"/>
            <a:endParaRPr lang="de" cap="non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Bild 5" descr="Nahaufnahme eines Logos&#10;&#10;Beschreibung wird automatisch generiert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0047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8_TF33552983" id="{576DBA50-8B91-4A4D-83D9-7E9D2BF5E738}" vid="{40B35DA9-BDA0-45AF-A640-2DB6EA94DA7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{EEA0EEF3-498F-4431-9F18-8851E01E731E}TF201209c3-d067-44f9-a26f-c8f216c44313eab4df28_win32-e7f8ae874725</Template>
  <TotalTime>0</TotalTime>
  <Words>696</Words>
  <Application>Microsoft Office PowerPoint</Application>
  <PresentationFormat>Breitbild</PresentationFormat>
  <Paragraphs>76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7" baseType="lpstr">
      <vt:lpstr>Arial</vt:lpstr>
      <vt:lpstr>Calibri</vt:lpstr>
      <vt:lpstr>Franklin Gothic Book</vt:lpstr>
      <vt:lpstr>Franklin Gothic Demi</vt:lpstr>
      <vt:lpstr>Google Sans</vt:lpstr>
      <vt:lpstr>Wingdings</vt:lpstr>
      <vt:lpstr>Wingdings 2</vt:lpstr>
      <vt:lpstr>DividendVTI</vt:lpstr>
      <vt:lpstr>Vertiefung Softwaretechnik FH-SWF‘26 Exemplarischer Softwareentwurf eines Onlinestores </vt:lpstr>
      <vt:lpstr>Überblick:</vt:lpstr>
      <vt:lpstr>Anforderungen:</vt:lpstr>
      <vt:lpstr>Konzept:</vt:lpstr>
      <vt:lpstr>Struktur-Grobentwurf:</vt:lpstr>
      <vt:lpstr>Prozessablauf (Happy-Path):</vt:lpstr>
      <vt:lpstr>Projekt-Management:</vt:lpstr>
      <vt:lpstr>Komponentendetails:</vt:lpstr>
      <vt:lpstr>Vielen Dank für Ihre Zeit  Kritik / Fragen / Anregungen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zy</dc:creator>
  <cp:lastModifiedBy>p zy</cp:lastModifiedBy>
  <cp:revision>9</cp:revision>
  <dcterms:created xsi:type="dcterms:W3CDTF">2026-06-12T18:17:27Z</dcterms:created>
  <dcterms:modified xsi:type="dcterms:W3CDTF">2026-06-13T08:24:08Z</dcterms:modified>
</cp:coreProperties>
</file>